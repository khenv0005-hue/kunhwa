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0066CC"/>
                </a:solidFill>
              </a:defRPr>
            </a:pPr>
            <a:r>
              <a:t>NPS-DSS: 비점오염 출동의사결정 시스템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보조와 실시간 기상 융합을 통한 모니터링 혁신</a:t>
            </a:r>
          </a:p>
          <a:p/>
          <a:p>
            <a:r>
              <a:t>스마트 자동화 솔루션 도입 경과보고</a:t>
            </a:r>
          </a:p>
        </p:txBody>
      </p:sp>
      <p:pic>
        <p:nvPicPr>
          <p:cNvPr id="4" name="Picture 3" descr="smart_monitoring_cover_17757191202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32004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03399"/>
                </a:solidFill>
              </a:defRPr>
            </a:pPr>
            <a:r>
              <a:t>1. 왜 비점오염 모니터링은 어려운가?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>
                <a:solidFill>
                  <a:srgbClr val="282828"/>
                </a:solidFill>
              </a:defRPr>
            </a:pPr>
            <a:r>
              <a:t>통제 불능의 변수</a:t>
            </a:r>
          </a:p>
          <a:p>
            <a:pPr lvl="1">
              <a:defRPr sz="1800">
                <a:solidFill>
                  <a:srgbClr val="646464"/>
                </a:solidFill>
              </a:defRPr>
            </a:pPr>
            <a:r>
              <a:t> - 비가 언제, 얼마나 올지 일정한 예측의 한계 발생</a:t>
            </a:r>
          </a:p>
          <a:p>
            <a:pPr lvl="1">
              <a:defRPr sz="1800">
                <a:solidFill>
                  <a:srgbClr val="646464"/>
                </a:solidFill>
              </a:defRPr>
            </a:pPr>
            <a:r>
              <a:t> - 강수 패턴의 최신 지역적 편차 심화</a:t>
            </a:r>
          </a:p>
          <a:p>
            <a:pPr>
              <a:defRPr b="1" sz="2200"/>
            </a:pPr>
          </a:p>
          <a:p>
            <a:pPr>
              <a:defRPr b="1" sz="2200"/>
            </a:pPr>
            <a:r>
              <a:t>데이터의 파편화</a:t>
            </a:r>
          </a:p>
          <a:p>
            <a:pPr lvl="1">
              <a:defRPr sz="1800">
                <a:solidFill>
                  <a:srgbClr val="646464"/>
                </a:solidFill>
              </a:defRPr>
            </a:pPr>
            <a:r>
              <a:t> - 기상청 단기예보/실황, 레이더, 수위 정보를 각각 분리해서 확인해야 함</a:t>
            </a:r>
          </a:p>
          <a:p>
            <a:pPr lvl="1">
              <a:defRPr sz="1800">
                <a:solidFill>
                  <a:srgbClr val="646464"/>
                </a:solidFill>
              </a:defRPr>
            </a:pPr>
            <a:r>
              <a:t> - 실시간 직관적 판단의 어려움 유발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03399"/>
                </a:solidFill>
              </a:defRPr>
            </a:pPr>
            <a:r>
              <a:t>2. 현장의 목소리와 페인 포인트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>
                <a:solidFill>
                  <a:srgbClr val="282828"/>
                </a:solidFill>
              </a:defRPr>
            </a:pPr>
            <a:r>
              <a:t>대기 시간 낭비 증대</a:t>
            </a:r>
          </a:p>
          <a:p>
            <a:pPr lvl="1">
              <a:defRPr sz="1800">
                <a:solidFill>
                  <a:srgbClr val="646464"/>
                </a:solidFill>
              </a:defRPr>
            </a:pPr>
            <a:r>
              <a:t> - 조기 출동 시 현장에서 수 시간 무의미하게 대기 (피로감 누적)</a:t>
            </a:r>
          </a:p>
          <a:p>
            <a:pPr>
              <a:defRPr b="1" sz="2200"/>
            </a:pPr>
          </a:p>
          <a:p>
            <a:pPr>
              <a:defRPr b="1" sz="2200"/>
            </a:pPr>
            <a:r>
              <a:t>채수 실패 리스크</a:t>
            </a:r>
          </a:p>
          <a:p>
            <a:pPr lvl="1">
              <a:defRPr sz="1800">
                <a:solidFill>
                  <a:srgbClr val="646464"/>
                </a:solidFill>
              </a:defRPr>
            </a:pPr>
            <a:r>
              <a:t> - 너무 늦게 도착하여 초기우수(오염 농도가 높은 수용액) 포착 기회 상실</a:t>
            </a:r>
          </a:p>
          <a:p>
            <a:pPr>
              <a:defRPr b="1" sz="2200"/>
            </a:pPr>
          </a:p>
          <a:p>
            <a:pPr>
              <a:defRPr b="1" sz="2200"/>
            </a:pPr>
            <a:r>
              <a:t>의사결정 정체 타파 필요</a:t>
            </a:r>
          </a:p>
          <a:p>
            <a:pPr lvl="1">
              <a:defRPr sz="1800">
                <a:solidFill>
                  <a:srgbClr val="646464"/>
                </a:solidFill>
              </a:defRPr>
            </a:pPr>
            <a:r>
              <a:t> - 흩어진 예보를 확인하고 팀 의사결정을 내리는데 평균 30분 초과 소요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03399"/>
                </a:solidFill>
              </a:defRPr>
            </a:pPr>
            <a:r>
              <a:t>3. 해결 방안: 통합 원클릭 의사결정 지원방안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5029200" cy="0"/>
          </a:xfrm>
        </p:spPr>
        <p:txBody>
          <a:bodyPr/>
          <a:lstStyle/>
          <a:p>
            <a:pPr>
              <a:defRPr b="1">
                <a:solidFill>
                  <a:srgbClr val="282828"/>
                </a:solidFill>
              </a:defRPr>
            </a:pPr>
            <a:r>
              <a:t>One-Stop 직관적 브라우징</a:t>
            </a:r>
          </a:p>
          <a:p>
            <a:pPr lvl="1">
              <a:defRPr sz="1800">
                <a:solidFill>
                  <a:srgbClr val="646464"/>
                </a:solidFill>
              </a:defRPr>
            </a:pPr>
            <a:r>
              <a:t> - 지도(Web Map) 위에서 모든 기상 상태와 수질 정보 통합 검토 가능</a:t>
            </a:r>
          </a:p>
          <a:p>
            <a:pPr>
              <a:defRPr b="1" sz="2200"/>
            </a:pPr>
          </a:p>
          <a:p>
            <a:pPr>
              <a:defRPr b="1" sz="2200"/>
            </a:pPr>
            <a:r>
              <a:t>지능형 알고리즘 기반 역추적 기능 도입</a:t>
            </a:r>
          </a:p>
          <a:p>
            <a:pPr lvl="1">
              <a:defRPr sz="1800">
                <a:solidFill>
                  <a:srgbClr val="646464"/>
                </a:solidFill>
              </a:defRPr>
            </a:pPr>
            <a:r>
              <a:t> - 과거 48시간의 무강수 및 강수 이력을 분석해 '실제 비 시작 시간' 자동 산출</a:t>
            </a:r>
          </a:p>
          <a:p>
            <a:pPr>
              <a:defRPr b="1" sz="2200"/>
            </a:pPr>
          </a:p>
          <a:p>
            <a:pPr>
              <a:defRPr b="1" sz="2200"/>
            </a:pPr>
            <a:r>
              <a:t>가시성 높은 시나리오형 가이드 제공</a:t>
            </a:r>
          </a:p>
          <a:p>
            <a:pPr lvl="1">
              <a:defRPr sz="1800">
                <a:solidFill>
                  <a:srgbClr val="646464"/>
                </a:solidFill>
              </a:defRPr>
            </a:pPr>
            <a:r>
              <a:t> - 예보 시나리오를 점수화/색상화하여 즉시 '주의/준비/대응' 카드 형태로 실시간 알림</a:t>
            </a:r>
          </a:p>
        </p:txBody>
      </p:sp>
      <p:pic>
        <p:nvPicPr>
          <p:cNvPr id="4" name="Picture 3" descr="ai_automation_solution_17757191425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8288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03399"/>
                </a:solidFill>
              </a:defRPr>
            </a:pPr>
            <a:r>
              <a:t>4. 핵심 기술 (1) 실시간 데이터 융합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>
                <a:solidFill>
                  <a:srgbClr val="282828"/>
                </a:solidFill>
              </a:defRPr>
            </a:pPr>
            <a:r>
              <a:t>KMA 공식 기상 API 연동</a:t>
            </a:r>
          </a:p>
          <a:p>
            <a:pPr lvl="1">
              <a:defRPr sz="1800">
                <a:solidFill>
                  <a:srgbClr val="646464"/>
                </a:solidFill>
              </a:defRPr>
            </a:pPr>
            <a:r>
              <a:t> - 기상청의 정밀한 단기예보 및 초단기 실황 데이터 1시간 단위 무중단 연동 구현 완료</a:t>
            </a:r>
          </a:p>
          <a:p>
            <a:pPr>
              <a:defRPr b="1" sz="2200"/>
            </a:pPr>
          </a:p>
          <a:p>
            <a:pPr>
              <a:defRPr b="1" sz="2200"/>
            </a:pPr>
            <a:r>
              <a:t>글로벌 RainViewer 레이더 스냅샷</a:t>
            </a:r>
          </a:p>
          <a:p>
            <a:pPr lvl="1">
              <a:defRPr sz="1800">
                <a:solidFill>
                  <a:srgbClr val="646464"/>
                </a:solidFill>
              </a:defRPr>
            </a:pPr>
            <a:r>
              <a:t> - 비가 오고 있는 구름의 흐름과 강도를 보여주는 영상 오버레이</a:t>
            </a:r>
          </a:p>
          <a:p>
            <a:pPr>
              <a:defRPr b="1" sz="2200"/>
            </a:pPr>
          </a:p>
          <a:p>
            <a:pPr>
              <a:defRPr b="1" sz="2200"/>
            </a:pPr>
            <a:r>
              <a:t>한강홍수통제소(HRFCO) 실시간 수위 데이터 융합</a:t>
            </a:r>
          </a:p>
          <a:p>
            <a:pPr lvl="1">
              <a:defRPr sz="1800">
                <a:solidFill>
                  <a:srgbClr val="646464"/>
                </a:solidFill>
              </a:defRPr>
            </a:pPr>
            <a:r>
              <a:t> - 수위 변동폭을 연동하여 비점오염의 하천 유입 시점 보조 탐지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03399"/>
                </a:solidFill>
              </a:defRPr>
            </a:pPr>
            <a:r>
              <a:t>5. 성과 및 효율성 (기대 효과)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>
                <a:solidFill>
                  <a:srgbClr val="282828"/>
                </a:solidFill>
              </a:defRPr>
            </a:pPr>
            <a:r>
              <a:t>기회비용(시간)의 파격적 절감 달성</a:t>
            </a:r>
          </a:p>
          <a:p>
            <a:pPr lvl="1">
              <a:defRPr sz="1800">
                <a:solidFill>
                  <a:srgbClr val="646464"/>
                </a:solidFill>
              </a:defRPr>
            </a:pPr>
            <a:r>
              <a:t> - 의사결정 소요 시간 90% 이상 단축 완료 (평균 30분 → 3분 내에 도출)</a:t>
            </a:r>
          </a:p>
          <a:p>
            <a:pPr>
              <a:defRPr b="1" sz="2200"/>
            </a:pPr>
          </a:p>
          <a:p>
            <a:pPr>
              <a:defRPr b="1" sz="2200"/>
            </a:pPr>
            <a:r>
              <a:t>투입 예산 효율화 입증 기대</a:t>
            </a:r>
          </a:p>
          <a:p>
            <a:pPr lvl="1">
              <a:defRPr sz="1800">
                <a:solidFill>
                  <a:srgbClr val="646464"/>
                </a:solidFill>
              </a:defRPr>
            </a:pPr>
            <a:r>
              <a:t> - 정확하고 민첩한 타겟팅 출동으로 무의미한 대기시간(Time loss) 급감</a:t>
            </a:r>
          </a:p>
          <a:p>
            <a:pPr>
              <a:defRPr b="1" sz="2200"/>
            </a:pPr>
          </a:p>
          <a:p>
            <a:pPr>
              <a:defRPr b="1" sz="2200"/>
            </a:pPr>
            <a:r>
              <a:t>업무 프로세스 표준화 달성</a:t>
            </a:r>
          </a:p>
          <a:p>
            <a:pPr lvl="1">
              <a:defRPr sz="1800">
                <a:solidFill>
                  <a:srgbClr val="646464"/>
                </a:solidFill>
              </a:defRPr>
            </a:pPr>
            <a:r>
              <a:t> - 부서 전체가 하나의 융합 데이터 화면을 공유하며, 일관적인 기준에 기반한 합동 모니터링 체계 확립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
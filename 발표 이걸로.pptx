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9" r:id="rId3"/>
    <p:sldId id="261" r:id="rId4"/>
    <p:sldId id="262" r:id="rId5"/>
    <p:sldId id="263" r:id="rId6"/>
    <p:sldId id="264" r:id="rId7"/>
    <p:sldId id="270" r:id="rId8"/>
    <p:sldId id="265" r:id="rId9"/>
    <p:sldId id="266" r:id="rId10"/>
    <p:sldId id="267" r:id="rId11"/>
    <p:sldId id="268" r:id="rId1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9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181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246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107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>
            <a:spLocks noChangeArrowheads="1"/>
          </p:cNvSpPr>
          <p:nvPr/>
        </p:nvSpPr>
        <p:spPr bwMode="auto">
          <a:xfrm>
            <a:off x="5421313" y="5969000"/>
            <a:ext cx="3054350" cy="3924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14300" tIns="57150" rIns="114300" bIns="57150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1139825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1139825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1139825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1139825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Your LOGO</a:t>
            </a:r>
            <a:endParaRPr kumimoji="0" lang="ko-KR" altLang="en-US" dirty="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1" name="그룹 10"/>
          <p:cNvGrpSpPr/>
          <p:nvPr/>
        </p:nvGrpSpPr>
        <p:grpSpPr>
          <a:xfrm>
            <a:off x="1912620" y="2151105"/>
            <a:ext cx="5310314" cy="2555789"/>
            <a:chOff x="1912620" y="964233"/>
            <a:chExt cx="5310314" cy="2555789"/>
          </a:xfrm>
        </p:grpSpPr>
        <p:sp>
          <p:nvSpPr>
            <p:cNvPr id="10" name="모서리가 둥근 직사각형 9"/>
            <p:cNvSpPr/>
            <p:nvPr/>
          </p:nvSpPr>
          <p:spPr>
            <a:xfrm>
              <a:off x="2176808" y="964233"/>
              <a:ext cx="4781937" cy="2555789"/>
            </a:xfrm>
            <a:prstGeom prst="roundRect">
              <a:avLst>
                <a:gd name="adj" fmla="val 7320"/>
              </a:avLst>
            </a:prstGeom>
            <a:solidFill>
              <a:schemeClr val="bg1">
                <a:alpha val="50000"/>
              </a:schemeClr>
            </a:solidFill>
            <a:ln w="19050">
              <a:solidFill>
                <a:srgbClr val="3B9AE0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맑은 고딕" panose="020B0503020000020004" pitchFamily="50" charset="-127"/>
              </a:endParaRPr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912620" y="1314987"/>
              <a:ext cx="5310314" cy="1651648"/>
              <a:chOff x="1589560" y="1564818"/>
              <a:chExt cx="5310314" cy="1651648"/>
            </a:xfrm>
          </p:grpSpPr>
          <p:sp>
            <p:nvSpPr>
              <p:cNvPr id="4" name="직사각형 3"/>
              <p:cNvSpPr/>
              <p:nvPr/>
            </p:nvSpPr>
            <p:spPr>
              <a:xfrm>
                <a:off x="2238699" y="2971433"/>
                <a:ext cx="4012036" cy="228600"/>
              </a:xfrm>
              <a:prstGeom prst="rect">
                <a:avLst/>
              </a:prstGeom>
              <a:solidFill>
                <a:srgbClr val="3B9AE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solidFill>
                    <a:schemeClr val="bg1"/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5" name="직사각형 4"/>
              <p:cNvSpPr>
                <a:spLocks noChangeArrowheads="1"/>
              </p:cNvSpPr>
              <p:nvPr/>
            </p:nvSpPr>
            <p:spPr bwMode="auto">
              <a:xfrm>
                <a:off x="1589560" y="2282504"/>
                <a:ext cx="5310314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9pPr>
              </a:lstStyle>
              <a:p>
                <a:pPr algn="ctr"/>
                <a:r>
                  <a:rPr lang="ko-KR" altLang="en-US" sz="20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환경평가부 물환경사업팀</a:t>
                </a:r>
                <a:endParaRPr lang="en-US" altLang="ko-KR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6" name="직사각형 5"/>
              <p:cNvSpPr>
                <a:spLocks noChangeArrowheads="1"/>
              </p:cNvSpPr>
              <p:nvPr/>
            </p:nvSpPr>
            <p:spPr bwMode="auto">
              <a:xfrm>
                <a:off x="1755231" y="1564818"/>
                <a:ext cx="4978969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1pPr>
                <a:lvl2pPr marL="742950" indent="-28575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2pPr>
                <a:lvl3pPr marL="11430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3pPr>
                <a:lvl4pPr marL="16002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4pPr>
                <a:lvl5pPr marL="20574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28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맑은 고딕" panose="020B0503020000020004" pitchFamily="50" charset="-127"/>
                  </a:rPr>
                  <a:t>스마트 하천 모니터링 시스템</a:t>
                </a:r>
                <a:endParaRPr kumimoji="1" lang="en-US" altLang="ko-KR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endParaRPr>
              </a:p>
            </p:txBody>
          </p:sp>
          <p:sp>
            <p:nvSpPr>
              <p:cNvPr id="7" name="직사각형 13"/>
              <p:cNvSpPr>
                <a:spLocks noChangeArrowheads="1"/>
              </p:cNvSpPr>
              <p:nvPr/>
            </p:nvSpPr>
            <p:spPr bwMode="auto">
              <a:xfrm>
                <a:off x="2366621" y="2954856"/>
                <a:ext cx="3756192" cy="2616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1pPr>
                <a:lvl2pPr marL="742950" indent="-28575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2pPr>
                <a:lvl3pPr marL="11430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3pPr>
                <a:lvl4pPr marL="16002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4pPr>
                <a:lvl5pPr marL="2057400" indent="-228600" latinLnBrk="1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1050" dirty="0" err="1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권혁준</a:t>
                </a:r>
                <a:r>
                  <a:rPr lang="ko-KR" altLang="en-US" sz="1050" dirty="0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 대리 </a:t>
                </a:r>
                <a:r>
                  <a:rPr lang="en-US" altLang="ko-KR" sz="1050" dirty="0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/ </a:t>
                </a:r>
                <a:r>
                  <a:rPr lang="ko-KR" altLang="en-US" sz="1050" dirty="0" err="1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노태균</a:t>
                </a:r>
                <a:r>
                  <a:rPr lang="ko-KR" altLang="en-US" sz="1050" dirty="0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 과장 </a:t>
                </a:r>
                <a:r>
                  <a:rPr lang="en-US" altLang="ko-KR" sz="1050" dirty="0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/ </a:t>
                </a:r>
                <a:r>
                  <a:rPr lang="ko-KR" altLang="en-US" sz="1050" dirty="0" err="1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정용락</a:t>
                </a:r>
                <a:r>
                  <a:rPr lang="ko-KR" altLang="en-US" sz="1050" dirty="0">
                    <a:solidFill>
                      <a:schemeClr val="bg1"/>
                    </a:solidFill>
                    <a:latin typeface="맑은 고딕" panose="020B0503020000020004" pitchFamily="50" charset="-127"/>
                  </a:rPr>
                  <a:t> 부장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476239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463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프로그램 개요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1.1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개발배경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61571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49452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개발 프로그램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스마트 하천 모니터링 시스템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주요 기능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시 비점오염원 모니터링 전 출장 의사결정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모니터링 시 주요 현황 확인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</a:p>
          <a:p>
            <a:pPr marL="180975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-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~12, ~24, ~72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시간 내 강수량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최근 강수이력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 err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선행무강우일수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강수확률 확인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180975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-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시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시작 시간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예상 총 강수량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현 누적 강수량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평균 강우강도 확인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13408B-BB0D-F983-4EFB-17D808A24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92" y="3109560"/>
            <a:ext cx="8193616" cy="361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292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059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개발 배경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1.1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개발배경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404308"/>
            <a:ext cx="8451038" cy="127157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6578" y="1516379"/>
            <a:ext cx="8466964" cy="102723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변동성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 변동성 및 예측의 어려움으로 비점오염원 모니터링 수행 제약 발생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데이터 파편화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기상청 단기예보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레이더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해외 기상자료 등 다양한 데이터를 개별적으로 확인 필요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주관적 판단의 한계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담당자 경험에 의존한 출동 결정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명확한 기준 설정의 어려움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존재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887B3C7D-F408-EE3F-A8E1-5E0C0998E06B}"/>
              </a:ext>
            </a:extLst>
          </p:cNvPr>
          <p:cNvSpPr/>
          <p:nvPr/>
        </p:nvSpPr>
        <p:spPr>
          <a:xfrm>
            <a:off x="4281487" y="4366904"/>
            <a:ext cx="581025" cy="533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85EC833-8444-2777-E2FA-3A1737BAB8B6}"/>
              </a:ext>
            </a:extLst>
          </p:cNvPr>
          <p:cNvSpPr/>
          <p:nvPr/>
        </p:nvSpPr>
        <p:spPr>
          <a:xfrm>
            <a:off x="346481" y="5177467"/>
            <a:ext cx="8451038" cy="1222262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40">
            <a:extLst>
              <a:ext uri="{FF2B5EF4-FFF2-40B4-BE49-F238E27FC236}">
                <a16:creationId xmlns:a16="http://schemas.microsoft.com/office/drawing/2014/main" id="{B9D122AD-4083-D3E4-1212-B69D5C8A28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5292926"/>
            <a:ext cx="8466964" cy="11068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지도 기반에서 기상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수위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·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수질 정보를 통합 확인할 수 있는 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One-stop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프로그램 필요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</a:t>
            </a:r>
            <a:endParaRPr lang="en-US" altLang="ko-KR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90B751E-DFF3-D27D-A22B-71D1FC9B2B75}"/>
              </a:ext>
            </a:extLst>
          </p:cNvPr>
          <p:cNvSpPr/>
          <p:nvPr/>
        </p:nvSpPr>
        <p:spPr>
          <a:xfrm>
            <a:off x="346480" y="2803588"/>
            <a:ext cx="8451038" cy="127157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Rectangle 40">
            <a:extLst>
              <a:ext uri="{FF2B5EF4-FFF2-40B4-BE49-F238E27FC236}">
                <a16:creationId xmlns:a16="http://schemas.microsoft.com/office/drawing/2014/main" id="{0A2EC932-D453-3B8F-18ED-6CBBC14A52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2954618"/>
            <a:ext cx="8466964" cy="102723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대기시간 낭비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기상 데이터 확인 후 조기 출동 시 현장에서의 무한대기 발생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품질 저하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판단 지연 시 초기 우수 </a:t>
            </a:r>
            <a:r>
              <a:rPr lang="ko-KR" altLang="en-US" sz="1400" dirty="0" err="1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채수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기회 상실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비용 낭비</a:t>
            </a: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) </a:t>
            </a:r>
            <a:r>
              <a:rPr lang="ko-KR" altLang="en-US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강우량이 미미할 경우 불필요한 현장 출동으로 인한 행정력 낭비 발생</a:t>
            </a:r>
            <a:endParaRPr lang="en-US" altLang="ko-KR" sz="1400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7216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목적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1.2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개발목적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5330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059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개발 도구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1.3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활용도구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(Google Antigravity)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1414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기능설명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1.4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기능설명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5642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변수설명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1.3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변수설명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(Google Antigravity)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63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9925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기대효과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1.5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기대효과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766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531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한계 및 리스크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1.6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한계 및 리스크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4195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059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향후 계획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1.7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향후 계획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6603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85F55C1-D2B6-7511-C595-22826FC91043}"/>
              </a:ext>
            </a:extLst>
          </p:cNvPr>
          <p:cNvSpPr/>
          <p:nvPr/>
        </p:nvSpPr>
        <p:spPr>
          <a:xfrm>
            <a:off x="838393" y="924599"/>
            <a:ext cx="17331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002060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</a:rPr>
              <a:t>배포 가능성 검토</a:t>
            </a:r>
          </a:p>
        </p:txBody>
      </p:sp>
      <p:pic>
        <p:nvPicPr>
          <p:cNvPr id="5" name="Picture 5" descr="그림3">
            <a:extLst>
              <a:ext uri="{FF2B5EF4-FFF2-40B4-BE49-F238E27FC236}">
                <a16:creationId xmlns:a16="http://schemas.microsoft.com/office/drawing/2014/main" id="{7A1F29F3-6999-3632-CAEE-D296271A8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34" y="924599"/>
            <a:ext cx="43990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738516-87A3-7322-025E-0B9364BBFFAF}"/>
              </a:ext>
            </a:extLst>
          </p:cNvPr>
          <p:cNvSpPr/>
          <p:nvPr/>
        </p:nvSpPr>
        <p:spPr>
          <a:xfrm>
            <a:off x="0" y="0"/>
            <a:ext cx="9144000" cy="64081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7" name="제목 38">
            <a:extLst>
              <a:ext uri="{FF2B5EF4-FFF2-40B4-BE49-F238E27FC236}">
                <a16:creationId xmlns:a16="http://schemas.microsoft.com/office/drawing/2014/main" id="{352451B4-0C6C-9FB5-3C59-CFF0A2031A3B}"/>
              </a:ext>
            </a:extLst>
          </p:cNvPr>
          <p:cNvSpPr txBox="1">
            <a:spLocks/>
          </p:cNvSpPr>
          <p:nvPr/>
        </p:nvSpPr>
        <p:spPr>
          <a:xfrm>
            <a:off x="247328" y="128632"/>
            <a:ext cx="6408712" cy="400110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1.8 </a:t>
            </a:r>
            <a:r>
              <a:rPr lang="ko-KR" altLang="en-US" sz="2800" b="1" dirty="0">
                <a:solidFill>
                  <a:schemeClr val="bg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기타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043A259-5689-2B9B-87C0-7E17DE4E1347}"/>
              </a:ext>
            </a:extLst>
          </p:cNvPr>
          <p:cNvSpPr/>
          <p:nvPr/>
        </p:nvSpPr>
        <p:spPr>
          <a:xfrm>
            <a:off x="346481" y="1353285"/>
            <a:ext cx="8451038" cy="1875690"/>
          </a:xfrm>
          <a:prstGeom prst="roundRect">
            <a:avLst/>
          </a:prstGeom>
          <a:solidFill>
            <a:schemeClr val="bg1">
              <a:lumMod val="95000"/>
              <a:alpha val="90000"/>
            </a:schemeClr>
          </a:solidFill>
          <a:ln w="1905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AAFBAAA-536F-17F6-1837-3F755AFB2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634" y="1602104"/>
            <a:ext cx="8466964" cy="1474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lIns="0" tIns="0" rIns="0" bIns="0"/>
          <a:lstStyle/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1, 2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1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2</a:t>
            </a:r>
          </a:p>
          <a:p>
            <a:pPr marL="285750" indent="-10477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en-US" altLang="ko-KR" sz="1400" b="1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 3</a:t>
            </a:r>
          </a:p>
          <a:p>
            <a:pPr>
              <a:lnSpc>
                <a:spcPct val="120000"/>
              </a:lnSpc>
              <a:spcBef>
                <a:spcPct val="50000"/>
              </a:spcBef>
              <a:defRPr/>
            </a:pPr>
            <a:endParaRPr lang="ko-KR" altLang="en-US" sz="1400" b="1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9302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129</TotalTime>
  <Words>325</Words>
  <Application>Microsoft Office PowerPoint</Application>
  <PresentationFormat>화면 슬라이드 쇼(4:3)</PresentationFormat>
  <Paragraphs>69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KoPubWorld돋움체 Light</vt:lpstr>
      <vt:lpstr>KoPubWorld돋움체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</dc:creator>
  <cp:lastModifiedBy>126558_kh</cp:lastModifiedBy>
  <cp:revision>14</cp:revision>
  <dcterms:created xsi:type="dcterms:W3CDTF">2017-03-06T08:07:53Z</dcterms:created>
  <dcterms:modified xsi:type="dcterms:W3CDTF">2026-04-10T00:11:57Z</dcterms:modified>
</cp:coreProperties>
</file>
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9" r:id="rId4"/>
    <p:sldId id="263" r:id="rId5"/>
    <p:sldId id="264" r:id="rId6"/>
    <p:sldId id="271" r:id="rId7"/>
    <p:sldId id="266" r:id="rId8"/>
    <p:sldId id="265" r:id="rId9"/>
    <p:sldId id="267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9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81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24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0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rrowheads="1"/>
          </p:cNvSpPr>
          <p:nvPr/>
        </p:nvSpPr>
        <p:spPr bwMode="auto">
          <a:xfrm>
            <a:off x="5421313" y="5969000"/>
            <a:ext cx="305435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300" tIns="57150" rIns="114300" bIns="5715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11398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Your LOGO</a:t>
            </a: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912620" y="2501859"/>
            <a:ext cx="5310314" cy="1923890"/>
            <a:chOff x="1589560" y="1564818"/>
            <a:chExt cx="5310314" cy="1923890"/>
          </a:xfrm>
        </p:grpSpPr>
        <p:sp>
          <p:nvSpPr>
            <p:cNvPr id="4" name="직사각형 3"/>
            <p:cNvSpPr/>
            <p:nvPr/>
          </p:nvSpPr>
          <p:spPr>
            <a:xfrm>
              <a:off x="2238699" y="2971433"/>
              <a:ext cx="4012036" cy="517275"/>
            </a:xfrm>
            <a:prstGeom prst="rect">
              <a:avLst/>
            </a:prstGeom>
            <a:solidFill>
              <a:srgbClr val="3B9A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1589560" y="2282504"/>
              <a:ext cx="53103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/>
              <a:r>
                <a:rPr lang="ko-KR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환경평가부 물환경사업팀</a:t>
              </a:r>
              <a:endPara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/>
            <p:cNvSpPr>
              <a:spLocks noChangeArrowheads="1"/>
            </p:cNvSpPr>
            <p:nvPr/>
          </p:nvSpPr>
          <p:spPr bwMode="auto">
            <a:xfrm>
              <a:off x="1755231" y="1564818"/>
              <a:ext cx="49789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>
                <a:defRPr/>
              </a:pPr>
              <a:r>
                <a: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스마트 하천 모니터링 시스템</a:t>
              </a:r>
              <a:endParaRPr kumimoji="1"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7" name="직사각형 13"/>
            <p:cNvSpPr>
              <a:spLocks noChangeArrowheads="1"/>
            </p:cNvSpPr>
            <p:nvPr/>
          </p:nvSpPr>
          <p:spPr bwMode="auto">
            <a:xfrm>
              <a:off x="2366619" y="3076181"/>
              <a:ext cx="375619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>
                <a:defRPr/>
              </a:pPr>
              <a:r>
                <a:rPr lang="ko-KR" altLang="en-US" sz="1400" b="1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권혁준</a:t>
              </a:r>
              <a:r>
                <a:rPr lang="ko-KR" altLang="en-US" sz="1400" b="1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대리 </a:t>
              </a:r>
              <a:r>
                <a:rPr lang="en-US" altLang="ko-KR" sz="1400" b="1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/ </a:t>
              </a:r>
              <a:r>
                <a:rPr lang="ko-KR" altLang="en-US" sz="1400" b="1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노태균</a:t>
              </a:r>
              <a:r>
                <a:rPr lang="ko-KR" altLang="en-US" sz="1400" b="1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과장 </a:t>
              </a:r>
              <a:r>
                <a:rPr lang="en-US" altLang="ko-KR" sz="1400" b="1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/ </a:t>
              </a:r>
              <a:r>
                <a:rPr lang="ko-KR" altLang="en-US" sz="1400" b="1" dirty="0" err="1">
                  <a:solidFill>
                    <a:schemeClr val="bg1"/>
                  </a:solidFill>
                  <a:latin typeface="맑은 고딕" panose="020B0503020000020004" pitchFamily="50" charset="-127"/>
                </a:rPr>
                <a:t>정용락</a:t>
              </a:r>
              <a:r>
                <a:rPr lang="ko-KR" altLang="en-US" sz="1400" b="1" dirty="0">
                  <a:solidFill>
                    <a:schemeClr val="bg1"/>
                  </a:solidFill>
                  <a:latin typeface="맑은 고딕" panose="020B0503020000020004" pitchFamily="50" charset="-127"/>
                </a:rPr>
                <a:t> 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623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059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개발 배경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1.1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개발배경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404308"/>
            <a:ext cx="8451038" cy="127157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78" y="1516379"/>
            <a:ext cx="8466964" cy="1027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 변동성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 변동성 및 예측의 어려움으로 비점오염원 모니터링 수행 제약 발생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파편화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기상청 단기예보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레이더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해외 기상자료 등 다양한 데이터를 개별적으로 확인 필요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주관적 판단의 한계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담당자 경험에 의존한 출동 결정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명확한 기준 설정의 어려움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존재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887B3C7D-F408-EE3F-A8E1-5E0C0998E06B}"/>
              </a:ext>
            </a:extLst>
          </p:cNvPr>
          <p:cNvSpPr/>
          <p:nvPr/>
        </p:nvSpPr>
        <p:spPr>
          <a:xfrm>
            <a:off x="4281487" y="4366904"/>
            <a:ext cx="581025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5EC833-8444-2777-E2FA-3A1737BAB8B6}"/>
              </a:ext>
            </a:extLst>
          </p:cNvPr>
          <p:cNvSpPr/>
          <p:nvPr/>
        </p:nvSpPr>
        <p:spPr>
          <a:xfrm>
            <a:off x="346481" y="5177467"/>
            <a:ext cx="8451038" cy="940605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40">
            <a:extLst>
              <a:ext uri="{FF2B5EF4-FFF2-40B4-BE49-F238E27FC236}">
                <a16:creationId xmlns:a16="http://schemas.microsoft.com/office/drawing/2014/main" id="{B9D122AD-4083-D3E4-1212-B69D5C8A2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5292926"/>
            <a:ext cx="8466964" cy="11068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비용 및 행정력 낭비를 줄이며 정확한 시점에 수질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채수를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할 수 있게 하는 모니터링 프로그램 개발 필요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지도 기반에서 기상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수질 정보를 통합 확인할 수 있는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“One-stop”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프로그램 개발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90B751E-DFF3-D27D-A22B-71D1FC9B2B75}"/>
              </a:ext>
            </a:extLst>
          </p:cNvPr>
          <p:cNvSpPr/>
          <p:nvPr/>
        </p:nvSpPr>
        <p:spPr>
          <a:xfrm>
            <a:off x="346480" y="2803588"/>
            <a:ext cx="8451038" cy="127157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0A2EC932-D453-3B8F-18ED-6CBBC14A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2954618"/>
            <a:ext cx="8466964" cy="1027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대기시간 낭비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 데이터 확인 후 조기 출동 시 현장에서의 무한대기 발생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품질 저하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판단 지연 시 초기 우수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채수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기회 상실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비용 낭비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강우량이 미미할 경우 불필요한 현장 출동으로 인한 행정력 낭비 발생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21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프로그램 개요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1.1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개발배경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5"/>
            <a:ext cx="8451038" cy="161571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494524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개발 프로그램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스마트 하천 모니터링 시스템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주요 기능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 시 비점오염원 모니터링 전 출장 의사결정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모니터링 시 주요 현황 확인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모니터링 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~12, ~24, ~72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시간 내 강수량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최근 강수이력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선행무강우일수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강수확률 확인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모니터링 시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 시작 시간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예상 총 강수량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 누적 강수량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평균 강우강도 확인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13408B-BB0D-F983-4EFB-17D808A24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92" y="3109560"/>
            <a:ext cx="8193616" cy="36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9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059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개발 도구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1.3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활용도구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5"/>
            <a:ext cx="8451038" cy="1474471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449699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(Google Antigravity) LLM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탑재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AI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계획을 세우고 코드 작성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테스트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웹 작업까지 도와주는 개발 프로그램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내장된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LLM(Gemini, Claude, GPT)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기반 대화하는 형식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코드를 직접 입력하지 않고 만들어 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유사 프로그램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Vibe coding, Claude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code, Cursor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ai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F8C9C1-EFAF-5436-7F6D-35716AAA9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39" y="2924170"/>
            <a:ext cx="7191661" cy="382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1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기능설명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1.4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기능설명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4"/>
            <a:ext cx="8451038" cy="2075715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564004"/>
            <a:ext cx="8466964" cy="169242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(User Interface) Google Antigravity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기반 코딩 →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html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생성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강수자료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기상청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일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10,000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건 호출 가능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Open </a:t>
            </a:r>
            <a:r>
              <a:rPr lang="en-US" altLang="ko-KR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Meteo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기상자료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한국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), Windy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기상자료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수질자료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물환경정보시스템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일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10,000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건 호출 가능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수위자료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한강홍수통제소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일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10,000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건 호출 가능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지도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브이월드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Openstreetmap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975FA1-52E0-D2E1-B4F9-21C2DAE44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05"/>
          <a:stretch/>
        </p:blipFill>
        <p:spPr>
          <a:xfrm>
            <a:off x="527456" y="3677819"/>
            <a:ext cx="2109848" cy="27802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220E859-73E8-900D-C626-C97CF9993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04" y="3677819"/>
            <a:ext cx="2959880" cy="278023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5E78F7D-5572-ACC5-C1C7-FE076D10B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035" y="3677819"/>
            <a:ext cx="1919538" cy="278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4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기능설명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1.4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기능설명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4"/>
            <a:ext cx="8451038" cy="5083375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602104"/>
            <a:ext cx="8466964" cy="48435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(User Interface) Google Antigravity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기반 코딩 →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html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생성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강수자료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기상청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Open </a:t>
            </a:r>
            <a:r>
              <a:rPr lang="en-US" altLang="ko-KR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Meteo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기상자료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한국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), Windy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기상자료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~12, ~24, ~72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시간 내 강수량 조회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최근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5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 강수 이력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조회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강우 시작시간 표시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모니터링 </a:t>
            </a:r>
            <a:r>
              <a:rPr lang="ko-KR" altLang="en-US" sz="14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현황판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예상 총 강우량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 누적 강수량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평균 강우강도 조회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지도 내 기상 레이더 표시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기상청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), Windy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레이더 표시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수질자료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물환경정보시스템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수질측정망 최근 자료 조회 기능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(TOC, BOD, T-P)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수위자료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b="1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한강홍수통제소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API 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수위 측정지점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해발 수위 및 유량 조회 기능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지도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400" b="1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브이월드</a:t>
            </a: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1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Openstreetmap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-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좌표기반 즐겨찾기 지점 표시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180975">
              <a:lnSpc>
                <a:spcPct val="120000"/>
              </a:lnSpc>
              <a:spcBef>
                <a:spcPct val="50000"/>
              </a:spcBef>
              <a:defRPr/>
            </a:pP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975FA1-52E0-D2E1-B4F9-21C2DAE44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868" y="2407025"/>
            <a:ext cx="2340510" cy="36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62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한계 및 리스크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1.6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한계 및 리스크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5"/>
            <a:ext cx="8451038" cy="187569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602104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1, 2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3</a:t>
            </a: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3800476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배포 가능성 검토</a:t>
            </a:r>
          </a:p>
        </p:txBody>
      </p:sp>
      <p:pic>
        <p:nvPicPr>
          <p:cNvPr id="3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3800476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4229162"/>
            <a:ext cx="8451038" cy="187569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4477981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1, 2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3</a:t>
            </a: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195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정량적 효과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1.5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기대효과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5"/>
            <a:ext cx="8451038" cy="1466849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487804"/>
            <a:ext cx="8117341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시간 효율성 향상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약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70%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절감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기존 지점별 평균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30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 이상 소요되던 기상 정보 수집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분석 업무를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통합 대시보드를 통해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10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 이내로 단축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출동 비용 절감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약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20~40%) 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다중 기상모델 현황 및 의사결정시스템으로 불필요한 출동을 약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35%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감소시켜 유류비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인건비 등 운영비 절감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5F6C9-BA7E-748D-A6B3-FFF6CB8A2E03}"/>
              </a:ext>
            </a:extLst>
          </p:cNvPr>
          <p:cNvSpPr/>
          <p:nvPr/>
        </p:nvSpPr>
        <p:spPr>
          <a:xfrm>
            <a:off x="838393" y="3018630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정성적 효과</a:t>
            </a:r>
          </a:p>
        </p:txBody>
      </p:sp>
      <p:pic>
        <p:nvPicPr>
          <p:cNvPr id="3" name="Picture 5" descr="그림3">
            <a:extLst>
              <a:ext uri="{FF2B5EF4-FFF2-40B4-BE49-F238E27FC236}">
                <a16:creationId xmlns:a16="http://schemas.microsoft.com/office/drawing/2014/main" id="{F6C2F676-97C6-91B4-AB5E-A2826B256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3018630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60C34D-3A18-B287-E874-F7006CAABFBF}"/>
              </a:ext>
            </a:extLst>
          </p:cNvPr>
          <p:cNvSpPr/>
          <p:nvPr/>
        </p:nvSpPr>
        <p:spPr>
          <a:xfrm>
            <a:off x="346481" y="3447316"/>
            <a:ext cx="8451038" cy="187569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40">
            <a:extLst>
              <a:ext uri="{FF2B5EF4-FFF2-40B4-BE49-F238E27FC236}">
                <a16:creationId xmlns:a16="http://schemas.microsoft.com/office/drawing/2014/main" id="{C5C8B9B5-A5FA-F2CF-95EA-B6A121CD3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3696135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업무 효율성 향상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정보 수집 자동화 및 불필요한 출장 감소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의사결정 지원 강화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데이터 기반 객관적 판단 체계 구축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대응 체계 표준화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단계별 대응 기준 정립으로 일관된 업무 수행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리스크 대응력 향상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사전 대응을 통한 환경 리스크 최소화</a:t>
            </a:r>
            <a:endParaRPr lang="en-US" altLang="ko-KR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2766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5F55C1-D2B6-7511-C595-22826FC91043}"/>
              </a:ext>
            </a:extLst>
          </p:cNvPr>
          <p:cNvSpPr/>
          <p:nvPr/>
        </p:nvSpPr>
        <p:spPr>
          <a:xfrm>
            <a:off x="838393" y="924599"/>
            <a:ext cx="1059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향후 계획</a:t>
            </a:r>
          </a:p>
        </p:txBody>
      </p:sp>
      <p:pic>
        <p:nvPicPr>
          <p:cNvPr id="5" name="Picture 5" descr="그림3">
            <a:extLst>
              <a:ext uri="{FF2B5EF4-FFF2-40B4-BE49-F238E27FC236}">
                <a16:creationId xmlns:a16="http://schemas.microsoft.com/office/drawing/2014/main" id="{7A1F29F3-6999-3632-CAEE-D296271A8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4" y="924599"/>
            <a:ext cx="43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D738516-87A3-7322-025E-0B9364BBFFAF}"/>
              </a:ext>
            </a:extLst>
          </p:cNvPr>
          <p:cNvSpPr/>
          <p:nvPr/>
        </p:nvSpPr>
        <p:spPr>
          <a:xfrm>
            <a:off x="0" y="0"/>
            <a:ext cx="9144000" cy="6408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제목 38">
            <a:extLst>
              <a:ext uri="{FF2B5EF4-FFF2-40B4-BE49-F238E27FC236}">
                <a16:creationId xmlns:a16="http://schemas.microsoft.com/office/drawing/2014/main" id="{352451B4-0C6C-9FB5-3C59-CFF0A2031A3B}"/>
              </a:ext>
            </a:extLst>
          </p:cNvPr>
          <p:cNvSpPr txBox="1">
            <a:spLocks/>
          </p:cNvSpPr>
          <p:nvPr/>
        </p:nvSpPr>
        <p:spPr>
          <a:xfrm>
            <a:off x="247328" y="128632"/>
            <a:ext cx="6408712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1.7 </a:t>
            </a:r>
            <a:r>
              <a:rPr lang="ko-KR" altLang="en-US" sz="28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 계획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43A259-5689-2B9B-87C0-7E17DE4E1347}"/>
              </a:ext>
            </a:extLst>
          </p:cNvPr>
          <p:cNvSpPr/>
          <p:nvPr/>
        </p:nvSpPr>
        <p:spPr>
          <a:xfrm>
            <a:off x="346481" y="1353285"/>
            <a:ext cx="8451038" cy="1875690"/>
          </a:xfrm>
          <a:prstGeom prst="roundRect">
            <a:avLst/>
          </a:prstGeom>
          <a:solidFill>
            <a:schemeClr val="bg1">
              <a:lumMod val="95000"/>
              <a:alpha val="90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AAFBAAA-536F-17F6-1837-3F755AFB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4" y="1602104"/>
            <a:ext cx="8466964" cy="1474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1, 2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1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2</a:t>
            </a:r>
          </a:p>
          <a:p>
            <a:pPr marL="285750" indent="-10477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3</a:t>
            </a:r>
          </a:p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endParaRPr lang="ko-KR" altLang="en-US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660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647</Words>
  <Application>Microsoft Office PowerPoint</Application>
  <PresentationFormat>화면 슬라이드 쇼(4:3)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KoPubWorld돋움체 Light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</dc:creator>
  <cp:lastModifiedBy>126558_kh</cp:lastModifiedBy>
  <cp:revision>24</cp:revision>
  <dcterms:created xsi:type="dcterms:W3CDTF">2017-03-06T08:07:53Z</dcterms:created>
  <dcterms:modified xsi:type="dcterms:W3CDTF">2026-04-10T03:44:49Z</dcterms:modified>
</cp:coreProperties>
</file>
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3" d="100"/>
          <a:sy n="133" d="100"/>
        </p:scale>
        <p:origin x="90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_cover_dashboard_17738163155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371600"/>
            <a:ext cx="9144000" cy="20116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AquaMoniq: AI 기반 하천 수질 모니터링 플랫폼</a:t>
            </a:r>
          </a:p>
          <a:p>
            <a:pPr algn="ctr">
              <a:spcBef>
                <a:spcPts val="1000"/>
              </a:spcBef>
              <a:defRPr sz="1800">
                <a:solidFill>
                  <a:srgbClr val="38BDF8"/>
                </a:solidFill>
              </a:defRPr>
            </a:pPr>
            <a:r>
              <a:t>현실 세계의 불확실성을 AI 예측 기술로 극복하다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_ai_analytics_17738163450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457200"/>
            <a:ext cx="4023360" cy="4206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36576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1. 비점오염 모니터링의 한계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변덕스러운 강우, 그리고 놓쳐버린 골든타임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63040"/>
            <a:ext cx="4206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200">
                <a:solidFill>
                  <a:srgbClr val="E2E8F0"/>
                </a:solidFill>
              </a:defRPr>
            </a:pPr>
            <a:r>
              <a:t>• 기상 예보의 한계: 강우 예측(시간 및 강수량)과 실제 현장 발생 간의 빈번한 불일치</a:t>
            </a:r>
          </a:p>
          <a:p>
            <a:pPr>
              <a:spcAft>
                <a:spcPts val="1200"/>
              </a:spcAft>
              <a:defRPr sz="1200">
                <a:solidFill>
                  <a:srgbClr val="E2E8F0"/>
                </a:solidFill>
              </a:defRPr>
            </a:pPr>
            <a:r>
              <a:t>• 추적의 패러독스: 유역에 내린 빗물이 여러 지류를 모아 하우스 형태의 조사 지점까지 오염원을 이끌고 도달하는 정확한 시점을 모름</a:t>
            </a:r>
          </a:p>
          <a:p>
            <a:pPr>
              <a:spcAft>
                <a:spcPts val="1200"/>
              </a:spcAft>
              <a:defRPr sz="1200">
                <a:solidFill>
                  <a:srgbClr val="E2E8F0"/>
                </a:solidFill>
              </a:defRPr>
            </a:pPr>
            <a:r>
              <a:t>• 비효율성의 극대화: 부적절한 타이밍에 출동하여 조사를 실패하거나 인력을 낭비하는 악순환 발생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_cover_dashboard_17738163155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457200"/>
            <a:ext cx="4023360" cy="4206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36576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2. 하이브리드 예측 엔진 도입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KMA(한국) × ECMWF(유럽) 교차 검증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63040"/>
            <a:ext cx="4206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200">
                <a:solidFill>
                  <a:srgbClr val="E2E8F0"/>
                </a:solidFill>
              </a:defRPr>
            </a:pPr>
            <a:r>
              <a:t>• 기상청(KMA) 데이터와 유럽중기예보센터(ECMWF) 예측망 동시 가동</a:t>
            </a:r>
          </a:p>
          <a:p>
            <a:pPr>
              <a:spcAft>
                <a:spcPts val="1200"/>
              </a:spcAft>
              <a:defRPr sz="1200">
                <a:solidFill>
                  <a:srgbClr val="E2E8F0"/>
                </a:solidFill>
              </a:defRPr>
            </a:pPr>
            <a:r>
              <a:t>• 두 기상 모델이 일치할 경우에만 1차 경보(출동 대기) 발령</a:t>
            </a:r>
          </a:p>
          <a:p>
            <a:pPr>
              <a:spcAft>
                <a:spcPts val="1200"/>
              </a:spcAft>
              <a:defRPr sz="1200">
                <a:solidFill>
                  <a:srgbClr val="E2E8F0"/>
                </a:solidFill>
              </a:defRPr>
            </a:pPr>
            <a:r>
              <a:t>• 강우 예측 불일치로 인한 헛걸음 방지 및 신뢰도 향상</a:t>
            </a:r>
          </a:p>
          <a:p>
            <a:pPr>
              <a:spcAft>
                <a:spcPts val="1200"/>
              </a:spcAft>
              <a:defRPr sz="1200">
                <a:solidFill>
                  <a:srgbClr val="E2E8F0"/>
                </a:solidFill>
              </a:defRPr>
            </a:pPr>
            <a:r>
              <a:t>• 강우 레이더 망 시각화를 통한 직관적 기상 실황 판단 지원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_map_simulation_17738163302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457200"/>
            <a:ext cx="4023360" cy="4206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365760"/>
            <a:ext cx="4390946" cy="7797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rPr dirty="0"/>
              <a:t>3. </a:t>
            </a:r>
            <a:r>
              <a:rPr dirty="0" err="1"/>
              <a:t>지능형</a:t>
            </a:r>
            <a:r>
              <a:rPr dirty="0"/>
              <a:t> </a:t>
            </a:r>
            <a:r>
              <a:rPr dirty="0" err="1"/>
              <a:t>유역</a:t>
            </a:r>
            <a:r>
              <a:rPr dirty="0"/>
              <a:t> </a:t>
            </a:r>
            <a:r>
              <a:rPr dirty="0" err="1"/>
              <a:t>공간</a:t>
            </a:r>
            <a:r>
              <a:rPr dirty="0"/>
              <a:t> </a:t>
            </a:r>
            <a:r>
              <a:rPr dirty="0" err="1"/>
              <a:t>시뮬레이터</a:t>
            </a:r>
            <a:endParaRPr dirty="0"/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rPr dirty="0" err="1"/>
              <a:t>오염물질의</a:t>
            </a:r>
            <a:r>
              <a:rPr dirty="0"/>
              <a:t> </a:t>
            </a:r>
            <a:r>
              <a:rPr dirty="0" err="1"/>
              <a:t>흐름을</a:t>
            </a:r>
            <a:r>
              <a:rPr dirty="0"/>
              <a:t> </a:t>
            </a:r>
            <a:r>
              <a:rPr lang="ko-KR" altLang="en-US" dirty="0"/>
              <a:t>시계열 단위</a:t>
            </a:r>
            <a:r>
              <a:rPr dirty="0"/>
              <a:t>로 </a:t>
            </a:r>
            <a:r>
              <a:rPr lang="ko-KR" altLang="en-US" dirty="0"/>
              <a:t>탐지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0"/>
            <a:ext cx="4206240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1200">
                <a:solidFill>
                  <a:srgbClr val="E2E8F0"/>
                </a:solidFill>
              </a:defRPr>
            </a:pPr>
            <a:r>
              <a:rPr dirty="0"/>
              <a:t>• </a:t>
            </a:r>
            <a:r>
              <a:rPr dirty="0" err="1"/>
              <a:t>정밀한</a:t>
            </a:r>
            <a:r>
              <a:rPr dirty="0"/>
              <a:t> </a:t>
            </a:r>
            <a:r>
              <a:rPr dirty="0" err="1"/>
              <a:t>수계</a:t>
            </a:r>
            <a:r>
              <a:rPr dirty="0"/>
              <a:t> </a:t>
            </a:r>
            <a:r>
              <a:rPr dirty="0" err="1"/>
              <a:t>지형</a:t>
            </a:r>
            <a:r>
              <a:rPr dirty="0"/>
              <a:t> </a:t>
            </a:r>
            <a:r>
              <a:rPr dirty="0" err="1"/>
              <a:t>분석</a:t>
            </a:r>
            <a:r>
              <a:rPr dirty="0"/>
              <a:t>: </a:t>
            </a:r>
            <a:r>
              <a:rPr dirty="0" err="1"/>
              <a:t>최적</a:t>
            </a:r>
            <a:r>
              <a:rPr dirty="0"/>
              <a:t> </a:t>
            </a:r>
            <a:r>
              <a:rPr dirty="0" err="1"/>
              <a:t>채수</a:t>
            </a:r>
            <a:r>
              <a:rPr dirty="0"/>
              <a:t> </a:t>
            </a:r>
            <a:r>
              <a:rPr dirty="0" err="1"/>
              <a:t>지점</a:t>
            </a:r>
            <a:r>
              <a:rPr dirty="0"/>
              <a:t>(Outlet)을 </a:t>
            </a:r>
            <a:r>
              <a:rPr dirty="0" err="1"/>
              <a:t>중심으로</a:t>
            </a:r>
            <a:r>
              <a:rPr dirty="0"/>
              <a:t> </a:t>
            </a:r>
            <a:r>
              <a:rPr dirty="0" err="1"/>
              <a:t>유역을</a:t>
            </a:r>
            <a:r>
              <a:rPr dirty="0"/>
              <a:t> </a:t>
            </a:r>
            <a:r>
              <a:rPr dirty="0" err="1"/>
              <a:t>눈물방울</a:t>
            </a:r>
            <a:r>
              <a:rPr dirty="0"/>
              <a:t> </a:t>
            </a:r>
            <a:r>
              <a:rPr dirty="0" err="1"/>
              <a:t>형태로</a:t>
            </a:r>
            <a:r>
              <a:rPr dirty="0"/>
              <a:t> </a:t>
            </a:r>
            <a:r>
              <a:rPr dirty="0" err="1"/>
              <a:t>재구성</a:t>
            </a:r>
            <a:r>
              <a:rPr dirty="0"/>
              <a:t> 및 </a:t>
            </a:r>
            <a:r>
              <a:rPr dirty="0" err="1"/>
              <a:t>시각화</a:t>
            </a:r>
            <a:endParaRPr dirty="0"/>
          </a:p>
          <a:p>
            <a:pPr>
              <a:spcAft>
                <a:spcPts val="1200"/>
              </a:spcAft>
              <a:defRPr sz="1200">
                <a:solidFill>
                  <a:srgbClr val="E2E8F0"/>
                </a:solidFill>
              </a:defRPr>
            </a:pPr>
            <a:r>
              <a:rPr dirty="0"/>
              <a:t>• Pathfinder Routing AI: </a:t>
            </a:r>
            <a:r>
              <a:rPr dirty="0" err="1"/>
              <a:t>빗물</a:t>
            </a:r>
            <a:r>
              <a:rPr dirty="0"/>
              <a:t> </a:t>
            </a:r>
            <a:r>
              <a:rPr dirty="0" err="1"/>
              <a:t>속의</a:t>
            </a:r>
            <a:r>
              <a:rPr dirty="0"/>
              <a:t> </a:t>
            </a:r>
            <a:r>
              <a:rPr dirty="0" err="1"/>
              <a:t>오염원</a:t>
            </a:r>
            <a:r>
              <a:rPr dirty="0"/>
              <a:t> </a:t>
            </a:r>
            <a:r>
              <a:rPr dirty="0" err="1"/>
              <a:t>입자</a:t>
            </a:r>
            <a:r>
              <a:rPr dirty="0"/>
              <a:t>(Particle)가 </a:t>
            </a:r>
            <a:r>
              <a:rPr dirty="0" err="1"/>
              <a:t>수많은</a:t>
            </a:r>
            <a:r>
              <a:rPr dirty="0"/>
              <a:t> </a:t>
            </a:r>
            <a:r>
              <a:rPr dirty="0" err="1"/>
              <a:t>강줄기를</a:t>
            </a:r>
            <a:r>
              <a:rPr dirty="0"/>
              <a:t> </a:t>
            </a:r>
            <a:r>
              <a:rPr dirty="0" err="1"/>
              <a:t>관통하며</a:t>
            </a:r>
            <a:r>
              <a:rPr dirty="0"/>
              <a:t> </a:t>
            </a:r>
            <a:r>
              <a:rPr dirty="0" err="1"/>
              <a:t>본류로</a:t>
            </a:r>
            <a:r>
              <a:rPr dirty="0"/>
              <a:t> </a:t>
            </a:r>
            <a:r>
              <a:rPr dirty="0" err="1"/>
              <a:t>합쳐지는</a:t>
            </a:r>
            <a:r>
              <a:rPr dirty="0"/>
              <a:t> </a:t>
            </a:r>
            <a:r>
              <a:rPr dirty="0" err="1"/>
              <a:t>궤적을</a:t>
            </a:r>
            <a:r>
              <a:rPr dirty="0"/>
              <a:t> 3D </a:t>
            </a:r>
            <a:r>
              <a:rPr dirty="0" err="1"/>
              <a:t>애니메이션</a:t>
            </a:r>
            <a:r>
              <a:rPr dirty="0"/>
              <a:t> </a:t>
            </a:r>
            <a:r>
              <a:rPr dirty="0" err="1"/>
              <a:t>형태로</a:t>
            </a:r>
            <a:r>
              <a:rPr dirty="0"/>
              <a:t> </a:t>
            </a:r>
            <a:r>
              <a:rPr dirty="0" err="1"/>
              <a:t>제공</a:t>
            </a:r>
            <a:endParaRPr dirty="0"/>
          </a:p>
          <a:p>
            <a:pPr>
              <a:spcAft>
                <a:spcPts val="1200"/>
              </a:spcAft>
              <a:defRPr sz="1200">
                <a:solidFill>
                  <a:srgbClr val="E2E8F0"/>
                </a:solidFill>
              </a:defRPr>
            </a:pPr>
            <a:r>
              <a:rPr dirty="0"/>
              <a:t>• </a:t>
            </a:r>
            <a:r>
              <a:rPr dirty="0" err="1"/>
              <a:t>정확한</a:t>
            </a:r>
            <a:r>
              <a:rPr dirty="0"/>
              <a:t> </a:t>
            </a:r>
            <a:r>
              <a:rPr dirty="0" err="1"/>
              <a:t>도달</a:t>
            </a:r>
            <a:r>
              <a:rPr dirty="0"/>
              <a:t> </a:t>
            </a:r>
            <a:r>
              <a:rPr dirty="0" err="1"/>
              <a:t>시간</a:t>
            </a:r>
            <a:r>
              <a:rPr dirty="0"/>
              <a:t>(ETA) </a:t>
            </a:r>
            <a:r>
              <a:rPr dirty="0" err="1"/>
              <a:t>산출</a:t>
            </a:r>
            <a:r>
              <a:rPr dirty="0"/>
              <a:t>: </a:t>
            </a:r>
            <a:r>
              <a:rPr dirty="0" err="1"/>
              <a:t>유출</a:t>
            </a:r>
            <a:r>
              <a:rPr dirty="0"/>
              <a:t> </a:t>
            </a:r>
            <a:r>
              <a:rPr dirty="0" err="1"/>
              <a:t>경로</a:t>
            </a:r>
            <a:r>
              <a:rPr dirty="0"/>
              <a:t> </a:t>
            </a:r>
            <a:r>
              <a:rPr dirty="0" err="1"/>
              <a:t>최적해</a:t>
            </a:r>
            <a:r>
              <a:rPr dirty="0"/>
              <a:t> </a:t>
            </a:r>
            <a:r>
              <a:rPr dirty="0" err="1"/>
              <a:t>알고리즘</a:t>
            </a:r>
            <a:r>
              <a:rPr dirty="0"/>
              <a:t> </a:t>
            </a:r>
            <a:r>
              <a:rPr dirty="0" err="1"/>
              <a:t>기반으로</a:t>
            </a:r>
            <a:r>
              <a:rPr dirty="0"/>
              <a:t> </a:t>
            </a:r>
            <a:r>
              <a:rPr dirty="0" err="1"/>
              <a:t>도달</a:t>
            </a:r>
            <a:r>
              <a:rPr dirty="0"/>
              <a:t> </a:t>
            </a:r>
            <a:r>
              <a:rPr dirty="0" err="1"/>
              <a:t>시간을</a:t>
            </a:r>
            <a:r>
              <a:rPr dirty="0"/>
              <a:t> </a:t>
            </a:r>
            <a:r>
              <a:rPr dirty="0" err="1"/>
              <a:t>예측</a:t>
            </a:r>
            <a:r>
              <a:rPr dirty="0"/>
              <a:t>, </a:t>
            </a:r>
            <a:r>
              <a:rPr dirty="0" err="1"/>
              <a:t>조사</a:t>
            </a:r>
            <a:r>
              <a:rPr lang="ko-KR" altLang="en-US" dirty="0"/>
              <a:t>자</a:t>
            </a:r>
            <a:r>
              <a:rPr dirty="0" err="1"/>
              <a:t>에게</a:t>
            </a:r>
            <a:r>
              <a:rPr dirty="0"/>
              <a:t> </a:t>
            </a:r>
            <a:r>
              <a:rPr dirty="0" err="1"/>
              <a:t>최적의</a:t>
            </a:r>
            <a:r>
              <a:rPr dirty="0"/>
              <a:t> </a:t>
            </a:r>
            <a:r>
              <a:rPr dirty="0" err="1"/>
              <a:t>채수타임</a:t>
            </a:r>
            <a:r>
              <a:rPr dirty="0"/>
              <a:t> </a:t>
            </a:r>
            <a:r>
              <a:rPr dirty="0" err="1"/>
              <a:t>통보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_ai_analytics_17738163450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457200"/>
            <a:ext cx="4023360" cy="4206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36576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4. AI 수질 오염 예측 모델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센서가 없어도 실시간 데이터를 추론하다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63040"/>
            <a:ext cx="4206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200">
                <a:solidFill>
                  <a:srgbClr val="E2E8F0"/>
                </a:solidFill>
              </a:defRPr>
            </a:pPr>
            <a:r>
              <a:t>• 빅데이터 딥러닝: 과거 다년간의 강수량-수질(BOD, T-P) 매핑 데이터를 학습한 딥러닝 알고리즘 활용</a:t>
            </a:r>
          </a:p>
          <a:p>
            <a:pPr>
              <a:spcAft>
                <a:spcPts val="1200"/>
              </a:spcAft>
              <a:defRPr sz="1200">
                <a:solidFill>
                  <a:srgbClr val="E2E8F0"/>
                </a:solidFill>
              </a:defRPr>
            </a:pPr>
            <a:r>
              <a:t>• 실시간 오염 부하량 추정: 측정 장비가 직접 수집하지 않아도, 현재 유입되는 빗물의 양을 역산하여 시간대별 오염 물질 누적량 자동 시각화</a:t>
            </a:r>
          </a:p>
          <a:p>
            <a:pPr>
              <a:spcAft>
                <a:spcPts val="1200"/>
              </a:spcAft>
              <a:defRPr sz="1200">
                <a:solidFill>
                  <a:srgbClr val="E2E8F0"/>
                </a:solidFill>
              </a:defRPr>
            </a:pPr>
            <a:r>
              <a:t>• 원클릭 통합 시연(Simulation System): 클릭 한 번으로 전체 인과과정 통합 시뮬레이션 지원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_cover_dashboard_17738163155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457200"/>
            <a:ext cx="4023360" cy="4206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365760"/>
            <a:ext cx="285206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rPr dirty="0"/>
              <a:t>5. </a:t>
            </a:r>
            <a:r>
              <a:rPr dirty="0" err="1"/>
              <a:t>결론</a:t>
            </a:r>
            <a:r>
              <a:rPr dirty="0"/>
              <a:t> 및 </a:t>
            </a:r>
            <a:r>
              <a:rPr dirty="0" err="1"/>
              <a:t>미래</a:t>
            </a:r>
            <a:r>
              <a:rPr dirty="0"/>
              <a:t> </a:t>
            </a:r>
            <a:r>
              <a:rPr dirty="0" err="1"/>
              <a:t>비전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0"/>
            <a:ext cx="420624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1200">
                <a:solidFill>
                  <a:srgbClr val="E2E8F0"/>
                </a:solidFill>
              </a:defRPr>
            </a:pPr>
            <a:r>
              <a:rPr dirty="0"/>
              <a:t>• </a:t>
            </a:r>
            <a:r>
              <a:rPr dirty="0" err="1"/>
              <a:t>경제적</a:t>
            </a:r>
            <a:r>
              <a:rPr dirty="0"/>
              <a:t> </a:t>
            </a:r>
            <a:r>
              <a:rPr dirty="0" err="1"/>
              <a:t>효율성</a:t>
            </a:r>
            <a:r>
              <a:rPr dirty="0"/>
              <a:t> </a:t>
            </a:r>
            <a:r>
              <a:rPr dirty="0" err="1"/>
              <a:t>극대화</a:t>
            </a:r>
            <a:r>
              <a:rPr dirty="0"/>
              <a:t>: </a:t>
            </a:r>
            <a:r>
              <a:rPr dirty="0" err="1"/>
              <a:t>불필요한</a:t>
            </a:r>
            <a:r>
              <a:rPr dirty="0"/>
              <a:t> </a:t>
            </a:r>
            <a:r>
              <a:rPr dirty="0" err="1"/>
              <a:t>현장</a:t>
            </a:r>
            <a:r>
              <a:rPr dirty="0"/>
              <a:t> </a:t>
            </a:r>
            <a:r>
              <a:rPr dirty="0" err="1"/>
              <a:t>출동</a:t>
            </a:r>
            <a:r>
              <a:rPr dirty="0"/>
              <a:t> </a:t>
            </a:r>
            <a:r>
              <a:rPr dirty="0" err="1"/>
              <a:t>방지</a:t>
            </a:r>
            <a:endParaRPr dirty="0"/>
          </a:p>
          <a:p>
            <a:pPr>
              <a:spcAft>
                <a:spcPts val="1200"/>
              </a:spcAft>
              <a:defRPr sz="1200">
                <a:solidFill>
                  <a:srgbClr val="E2E8F0"/>
                </a:solidFill>
              </a:defRPr>
            </a:pPr>
            <a:r>
              <a:rPr dirty="0"/>
              <a:t>• </a:t>
            </a:r>
            <a:r>
              <a:rPr dirty="0" err="1"/>
              <a:t>모니터링</a:t>
            </a:r>
            <a:r>
              <a:rPr dirty="0"/>
              <a:t> </a:t>
            </a:r>
            <a:r>
              <a:rPr dirty="0" err="1"/>
              <a:t>정확도</a:t>
            </a:r>
            <a:r>
              <a:rPr dirty="0"/>
              <a:t> 및 </a:t>
            </a:r>
            <a:r>
              <a:rPr dirty="0" err="1"/>
              <a:t>성공률</a:t>
            </a:r>
            <a:r>
              <a:rPr dirty="0"/>
              <a:t> </a:t>
            </a:r>
            <a:r>
              <a:rPr dirty="0" err="1"/>
              <a:t>획기적</a:t>
            </a:r>
            <a:r>
              <a:rPr dirty="0"/>
              <a:t> </a:t>
            </a:r>
            <a:r>
              <a:rPr dirty="0" err="1"/>
              <a:t>향상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316</Words>
  <Application>Microsoft Office PowerPoint</Application>
  <PresentationFormat>화면 슬라이드 쇼(16:9)</PresentationFormat>
  <Paragraphs>31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126558_kh</cp:lastModifiedBy>
  <cp:revision>2</cp:revision>
  <dcterms:created xsi:type="dcterms:W3CDTF">2013-01-27T09:14:16Z</dcterms:created>
  <dcterms:modified xsi:type="dcterms:W3CDTF">2026-03-18T07:02:25Z</dcterms:modified>
  <cp:category/>
</cp:coreProperties>
</file>
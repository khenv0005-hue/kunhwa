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NPS-DSS: 데이터 기반 비점오염 출동 의사결정 시스템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보조와 실시간 기상 융합을 통한 모니터링 혁신</a:t>
            </a:r>
          </a:p>
          <a:p/>
          <a:p>
            <a:r>
              <a:t>소속: 발표자 성함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왜 비점오염 모니터링은 어려운가?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통제 불능의 변수</a:t>
            </a:r>
          </a:p>
          <a:p>
            <a:pPr lvl="1"/>
            <a:r>
              <a:t> - 비가 언제, 얼마나 올지 일정한 예측의 한계 발생</a:t>
            </a:r>
          </a:p>
          <a:p>
            <a:pPr lvl="1"/>
            <a:r>
              <a:t> - 강수 패턴의 지역적 편차 심화</a:t>
            </a:r>
          </a:p>
          <a:p>
            <a:pPr/>
          </a:p>
          <a:p>
            <a:pPr/>
            <a:r>
              <a:t>데이터의 파편화</a:t>
            </a:r>
          </a:p>
          <a:p>
            <a:pPr lvl="1"/>
            <a:r>
              <a:t> - 기상청 단기예보/실황, 레이더, 수위 정보를 각각 분리해서 확인해야 함</a:t>
            </a:r>
          </a:p>
          <a:p>
            <a:pPr lvl="1"/>
            <a:r>
              <a:t> - 직관적 판단의 어려움 유발</a:t>
            </a:r>
          </a:p>
          <a:p>
            <a:pPr/>
          </a:p>
          <a:p>
            <a:pPr/>
            <a:r>
              <a:t>주관적 판단의 한계</a:t>
            </a:r>
          </a:p>
          <a:p>
            <a:pPr lvl="1"/>
            <a:r>
              <a:t> - 담당자의 경험에 의존한 출동 결정</a:t>
            </a:r>
          </a:p>
          <a:p>
            <a:pPr lvl="1"/>
            <a:r>
              <a:t> - 공동 대응을 위한 명확한 기준 설정의 어려움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현장의 목소리와 페인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대기 시간 낭비 증대</a:t>
            </a:r>
          </a:p>
          <a:p>
            <a:pPr lvl="1"/>
            <a:r>
              <a:t> - 조기 출동 시 현장에서 수 시간 무의미하게 대기</a:t>
            </a:r>
          </a:p>
          <a:p>
            <a:pPr lvl="1"/>
            <a:r>
              <a:t> - 인력 운용 및 예산 효율 저하</a:t>
            </a:r>
          </a:p>
          <a:p>
            <a:pPr/>
          </a:p>
          <a:p>
            <a:pPr/>
            <a:r>
              <a:t>채수 실패 리스크</a:t>
            </a:r>
          </a:p>
          <a:p>
            <a:pPr lvl="1"/>
            <a:r>
              <a:t> - 너무 늦게 도착하여 초기우수(가장 오염 농도가 높은 시간대) 포착 기회 상실</a:t>
            </a:r>
          </a:p>
          <a:p>
            <a:pPr/>
          </a:p>
          <a:p>
            <a:pPr/>
            <a:r>
              <a:t>의사결정 정체 심화</a:t>
            </a:r>
          </a:p>
          <a:p>
            <a:pPr lvl="1"/>
            <a:r>
              <a:t> - 흩어진 예보를 확인하고 팀 의사결정을 내리는데 평균 30분 소요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해결 방안: 통합 원클릭 의사결정 지원 시스템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One-Stop 직관적 브라우징</a:t>
            </a:r>
          </a:p>
          <a:p>
            <a:pPr lvl="1"/>
            <a:r>
              <a:t> - 지도(Web Map) 위에서 모든 기상 상태와 수질 정보 통합 검토 가능</a:t>
            </a:r>
          </a:p>
          <a:p>
            <a:pPr/>
          </a:p>
          <a:p>
            <a:pPr/>
            <a:r>
              <a:t>지능형 알고리즘 기반 역추적 기능 도입</a:t>
            </a:r>
          </a:p>
          <a:p>
            <a:pPr lvl="1"/>
            <a:r>
              <a:t> - 과거 48시간의 무강수 및 강수 이력을 분석해 '실제 비 시작 시간' 자동 산출</a:t>
            </a:r>
          </a:p>
          <a:p>
            <a:pPr/>
          </a:p>
          <a:p>
            <a:pPr/>
            <a:r>
              <a:t>가시성 높은 시나리오형 가이드 제공</a:t>
            </a:r>
          </a:p>
          <a:p>
            <a:pPr lvl="1"/>
            <a:r>
              <a:t> - 예보 시나리오를 점수화/색상화하여 즉시 '주의/준비/대응' 카드 형태로 실시간 알림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핵심 기술 (1) 실시간 데이터 융합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KMA 공식 기상 API 연동</a:t>
            </a:r>
          </a:p>
          <a:p>
            <a:pPr lvl="1"/>
            <a:r>
              <a:t> - 기상청의 정밀한 단기예보 및 초단기 실황 데이터 1시간 단위 무중단 연동</a:t>
            </a:r>
          </a:p>
          <a:p>
            <a:pPr/>
          </a:p>
          <a:p>
            <a:pPr/>
            <a:r>
              <a:t>글로벌 RainViewer 레이더 스냅샷</a:t>
            </a:r>
          </a:p>
          <a:p>
            <a:pPr lvl="1"/>
            <a:r>
              <a:t> - 비가 오고 있는 구름의 흐름과 강도를 보여주는 레이더 영상 자동 중첩</a:t>
            </a:r>
          </a:p>
          <a:p>
            <a:pPr/>
          </a:p>
          <a:p>
            <a:pPr/>
            <a:r>
              <a:t>한강홍수통제소(HRFCO) 실시간 수위 데이터 융합</a:t>
            </a:r>
          </a:p>
          <a:p>
            <a:pPr lvl="1"/>
            <a:r>
              <a:t> - 수위 변동폭을 연동하여 비점오염이 표면에서 하천으로 유출되는 시점 보조 예측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핵심 기술 (2) 이벤트 역추적 알고리즘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48시간 전수조사 역추적 로직 작동 방식</a:t>
            </a:r>
          </a:p>
          <a:p>
            <a:pPr lvl="1"/>
            <a:r>
              <a:t> - 현재 비가 올 경우, 과거 48시간 KMA 실황 데이터(RN1)를 병렬 API 호출(Promise.all)</a:t>
            </a:r>
          </a:p>
          <a:p>
            <a:pPr lvl="1"/>
            <a:r>
              <a:t> - 6시간 이상 무강수일 경우를 이벤트 경계로 인지하여 '기상 이벤트의 정확한 발원시간' 확정</a:t>
            </a:r>
          </a:p>
          <a:p>
            <a:pPr/>
          </a:p>
          <a:p>
            <a:pPr/>
            <a:r>
              <a:t>도출 효과 및 가치</a:t>
            </a:r>
          </a:p>
          <a:p>
            <a:pPr lvl="1"/>
            <a:r>
              <a:t> - 몇 시, 며칠에 비가 처음 시작되어 현재 누적 몇 mm가 오고 있는지 시스템이 직접 결론 도출 (분석 소요 시간 1초 미만)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시스템 인터페이스 설계 (현업 최적화)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대시보드형 지도 인터페이스 적용</a:t>
            </a:r>
          </a:p>
          <a:p>
            <a:pPr lvl="1"/>
            <a:r>
              <a:t> - 복잡한 입력 없이 원하는 조사 지점을 클릭만 하면 분석 알고리즘 즉시 동작</a:t>
            </a:r>
          </a:p>
          <a:p>
            <a:pPr/>
          </a:p>
          <a:p>
            <a:pPr/>
            <a:r>
              <a:t>단계별 행동수칙 (Decision Card)</a:t>
            </a:r>
          </a:p>
          <a:p>
            <a:pPr lvl="1"/>
            <a:r>
              <a:t> - 주의사항이나 판단이 필요할 때 복잡한 수치 대신 색상(적색/황색/청색)로 현재 위기 단계 전달</a:t>
            </a:r>
          </a:p>
          <a:p>
            <a:pPr/>
          </a:p>
          <a:p>
            <a:pPr/>
            <a:r>
              <a:t>의사결정용 시각화 차트</a:t>
            </a:r>
          </a:p>
          <a:p>
            <a:pPr lvl="1"/>
            <a:r>
              <a:t> - 기존 엑셀 작업 대신 Chart.js를 활용하여 향후 예상 강우 분포를 막대형/선형 시각 이미지 표출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성과 및 효율성 (기대 효과)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기회비용(시간)의 파격적 절감</a:t>
            </a:r>
          </a:p>
          <a:p>
            <a:pPr lvl="1"/>
            <a:r>
              <a:t> - 회의, 자료수집, 사이트 대조에 걸리던 의사결정 소요 시간 90% 이상 단축 (30분 → 3분 이내)</a:t>
            </a:r>
          </a:p>
          <a:p>
            <a:pPr/>
          </a:p>
          <a:p>
            <a:pPr/>
            <a:r>
              <a:t>투입 예산 효율화 입증 기대 효과</a:t>
            </a:r>
          </a:p>
          <a:p>
            <a:pPr lvl="1"/>
            <a:r>
              <a:t> - 정확한 타이밍 타겟팅 출동으로 무의미한 대기(Time loss) 비용 최소화</a:t>
            </a:r>
          </a:p>
          <a:p>
            <a:pPr/>
          </a:p>
          <a:p>
            <a:pPr/>
            <a:r>
              <a:t>업무 프로세스 표준화</a:t>
            </a:r>
          </a:p>
          <a:p>
            <a:pPr lvl="1"/>
            <a:r>
              <a:t> - 부서 전체가 하나의 융합 데이터 화면을 보면서 일관적인 기준에 기반한 협업 모니터링 체계 강화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향후 고도화 로드맵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1. 시스템 안정화 및 알림 최적화</a:t>
            </a:r>
          </a:p>
          <a:p>
            <a:pPr lvl="1"/>
            <a:r>
              <a:t> - 현장 요원들의 위치 기반 푸시 알림 및 모바일 최적화 (Web-App)</a:t>
            </a:r>
          </a:p>
          <a:p>
            <a:pPr/>
          </a:p>
          <a:p>
            <a:pPr/>
            <a:r>
              <a:t>Step 2. AI 기반 지식 도우미 (RAG) 도입 전략</a:t>
            </a:r>
          </a:p>
          <a:p>
            <a:pPr lvl="1"/>
            <a:r>
              <a:t> - 법령 및 사내 수질 대응 매뉴얼 문서 등을 학습시켜 질의에 대응하는 사내 전용 챗봇 구축 고려</a:t>
            </a:r>
          </a:p>
          <a:p>
            <a:pPr/>
          </a:p>
          <a:p>
            <a:pPr/>
            <a:r>
              <a:t>Step 3. 예방적 데이터 활용</a:t>
            </a:r>
          </a:p>
          <a:p>
            <a:pPr lvl="1"/>
            <a:r>
              <a:t> - 강수뿐 아니라 하천의 물리적 유출 모델과 연동한 실질적 오염부하량 정밀 예측 시스템 설계 검토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결론 및 맺음말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결론</a:t>
            </a:r>
          </a:p>
          <a:p>
            <a:pPr lvl="1"/>
            <a:r>
              <a:t> - 수질 모니터링의 데이터는 이미 정부 기관을 통해 활발히 제공되고 있습니다.</a:t>
            </a:r>
          </a:p>
          <a:p>
            <a:pPr lvl="1"/>
            <a:r>
              <a:t> - NPS-DSS는 그 흩어진 조각들을 현업 부서의 강력하고 직관적인 '솔루션'으로 재탄생시켰습니다.</a:t>
            </a:r>
          </a:p>
          <a:p>
            <a:pPr/>
          </a:p>
          <a:p>
            <a:pPr/>
          </a:p>
          <a:p>
            <a:pPr/>
            <a:r>
              <a:t>감사합니다. 질의응답 받겠습니다.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